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5" r:id="rId11"/>
    <p:sldId id="346" r:id="rId12"/>
    <p:sldId id="340" r:id="rId13"/>
    <p:sldId id="344"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3" d="100"/>
          <a:sy n="73" d="100"/>
        </p:scale>
        <p:origin x="3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34524" y="3580185"/>
            <a:ext cx="5966276" cy="861497"/>
          </a:xfrm>
        </p:spPr>
        <p:txBody>
          <a:bodyPr vert="horz" lIns="91440" tIns="45720" rIns="91440" bIns="45720" rtlCol="0" anchor="t">
            <a:normAutofit/>
          </a:bodyPr>
          <a:lstStyle/>
          <a:p>
            <a:r>
              <a:rPr lang="en-US" b="0" dirty="0">
                <a:solidFill>
                  <a:schemeClr val="tx1"/>
                </a:solidFill>
              </a:rPr>
              <a:t>[Student Name – Om Chandrakant Bagal  </a:t>
            </a:r>
            <a:endParaRPr lang="en-IN" b="0" dirty="0">
              <a:solidFill>
                <a:schemeClr val="tx1"/>
              </a:solidFill>
            </a:endParaRPr>
          </a:p>
          <a:p>
            <a:r>
              <a:rPr lang="en-US" b="0" dirty="0">
                <a:solidFill>
                  <a:schemeClr val="tx1"/>
                </a:solidFill>
              </a:rPr>
              <a:t>College Name- COEP Technological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34524" y="2836737"/>
            <a:ext cx="9658710" cy="743448"/>
          </a:xfrm>
        </p:spPr>
        <p:txBody>
          <a:bodyPr>
            <a:normAutofit fontScale="90000"/>
          </a:bodyPr>
          <a:lstStyle/>
          <a:p>
            <a:r>
              <a:rPr lang="en-GB" sz="3200" dirty="0"/>
              <a:t>Project Title - </a:t>
            </a:r>
            <a:r>
              <a:rPr lang="en-US" sz="3200" dirty="0"/>
              <a:t>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34523" y="4538799"/>
            <a:ext cx="4973499" cy="369332"/>
          </a:xfrm>
          <a:prstGeom prst="rect">
            <a:avLst/>
          </a:prstGeom>
          <a:noFill/>
        </p:spPr>
        <p:txBody>
          <a:bodyPr wrap="square" rtlCol="0">
            <a:spAutoFit/>
          </a:bodyPr>
          <a:lstStyle/>
          <a:p>
            <a:r>
              <a:rPr lang="en-US" b="1" dirty="0"/>
              <a:t>AICTE STU ID : </a:t>
            </a:r>
            <a:r>
              <a:rPr lang="en-US" dirty="0"/>
              <a:t>STU698271eec6e021770156526</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4089815"/>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a:t>
            </a:r>
            <a:br>
              <a:rPr lang="en-US" sz="2800" dirty="0"/>
            </a:br>
            <a:br>
              <a:rPr lang="en-US" sz="2800" dirty="0"/>
            </a:br>
            <a:r>
              <a:rPr lang="en-US" sz="2800" dirty="0"/>
              <a:t>However, raw agricultural data does not clearly explain how agricultural performance changes across seasons or what patterns can be observed in different seasonal conditions. </a:t>
            </a:r>
            <a:br>
              <a:rPr lang="en-US" sz="2800" dirty="0"/>
            </a:br>
            <a:br>
              <a:rPr lang="en-US" sz="2800" dirty="0"/>
            </a:br>
            <a:r>
              <a:rPr lang="en-US" sz="2800" dirty="0"/>
              <a:t>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17115" y="334950"/>
            <a:ext cx="6276109" cy="518490"/>
          </a:xfrm>
        </p:spPr>
        <p:txBody>
          <a:bodyPr>
            <a:noAutofit/>
          </a:bodyPr>
          <a:lstStyle/>
          <a:p>
            <a:r>
              <a:rPr lang="en-GB" sz="3200" dirty="0"/>
              <a:t>Project Description</a:t>
            </a:r>
            <a:br>
              <a:rPr lang="en-GB" sz="1400" dirty="0"/>
            </a:br>
            <a:endParaRPr lang="en-IN" sz="1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0CC7E4C6-EBB4-BB14-A105-EC6E4392CC5B}"/>
              </a:ext>
            </a:extLst>
          </p:cNvPr>
          <p:cNvSpPr txBox="1"/>
          <p:nvPr/>
        </p:nvSpPr>
        <p:spPr>
          <a:xfrm>
            <a:off x="517115" y="853440"/>
            <a:ext cx="8677049" cy="640175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This project analyzes 4,000 farm records collected across eight Indian states, covering three agricultural seasons: Kharif, Rabi, and Zaid. Each record includes farming conditions such as rainfall, temperature, soil pH, and irrigation type, along with performance outcomes: yield, production, cost, revenue, and profit.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objective was to determine how much of a farm's performance is actually explained by season, as opposed to crop type or irrigation method. Rainfall and temperature differ between Kharif and Rabi, but the extent to which this affects yield and profit required verification through the data rather than assumption.</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Before any comparison could be made, the dataset required cleaning. Rainfall, soil moisture, and yield contained missing values, and the yield column contained values reaching 101 </a:t>
            </a:r>
            <a:r>
              <a:rPr lang="en-US" dirty="0" err="1">
                <a:latin typeface="Times New Roman" panose="02020603050405020304" pitchFamily="18" charset="0"/>
                <a:cs typeface="Times New Roman" panose="02020603050405020304" pitchFamily="18" charset="0"/>
              </a:rPr>
              <a:t>tonnes</a:t>
            </a:r>
            <a:r>
              <a:rPr lang="en-US" dirty="0">
                <a:latin typeface="Times New Roman" panose="02020603050405020304" pitchFamily="18" charset="0"/>
                <a:cs typeface="Times New Roman" panose="02020603050405020304" pitchFamily="18" charset="0"/>
              </a:rPr>
              <a:t> per hectare against an average of approximately 5. All of them belonged to Sugarcane, so they were kept as legitimate observations and </a:t>
            </a:r>
            <a:r>
              <a:rPr lang="en-US" dirty="0" err="1">
                <a:latin typeface="Times New Roman" panose="02020603050405020304" pitchFamily="18" charset="0"/>
                <a:cs typeface="Times New Roman" panose="02020603050405020304" pitchFamily="18" charset="0"/>
              </a:rPr>
              <a:t>analysed</a:t>
            </a:r>
            <a:r>
              <a:rPr lang="en-US" dirty="0">
                <a:latin typeface="Times New Roman" panose="02020603050405020304" pitchFamily="18" charset="0"/>
                <a:cs typeface="Times New Roman" panose="02020603050405020304" pitchFamily="18" charset="0"/>
              </a:rPr>
              <a:t> by crop.</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analysis then proceeded season by season: yield, cost, and profit were compared across Kharif, Rabi, and Zaid; irrigation method was compared on yield and water efficiency; and disease and pest risk were compared across seasons to test whether they explain Zaid's losses.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resulting analysis provides a season-wise breakdown of farm profitability, identifying the specific patterns and outliers that season-level averages alone would not reveal.</a:t>
            </a:r>
            <a:br>
              <a:rPr lang="en-US" sz="1600" dirty="0">
                <a:latin typeface="Times New Roman" panose="02020603050405020304" pitchFamily="18" charset="0"/>
                <a:cs typeface="Times New Roman" panose="02020603050405020304" pitchFamily="18" charset="0"/>
              </a:rPr>
            </a:br>
            <a:br>
              <a:rPr lang="en-GB"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41630" y="1433987"/>
            <a:ext cx="6155261" cy="5228591"/>
          </a:xfrm>
        </p:spPr>
        <p:txBody>
          <a:bodyPr>
            <a:no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primary users of the information in the report are farmers and agricultural cooperatives. The information on seasonal comparisons in the report helps the farmers to choose what to plant and what irrigation system to adopt based on actual results in similar conditions instead of using the default options.</a:t>
            </a:r>
          </a:p>
          <a:p>
            <a:pPr algn="just">
              <a:lnSpc>
                <a:spcPct val="150000"/>
              </a:lnSpc>
            </a:pPr>
            <a:r>
              <a:rPr lang="en-US" sz="1400" dirty="0">
                <a:latin typeface="Times New Roman" panose="02020603050405020304" pitchFamily="18" charset="0"/>
                <a:cs typeface="Times New Roman" panose="02020603050405020304" pitchFamily="18" charset="0"/>
              </a:rPr>
              <a:t>State Agricultural Departments can use the information on yield and profit trends to determine the allocation of subsidies or issue guidelines to growers on what to plant in particular areas depending on the season.</a:t>
            </a:r>
          </a:p>
          <a:p>
            <a:pPr algn="just">
              <a:lnSpc>
                <a:spcPct val="150000"/>
              </a:lnSpc>
            </a:pPr>
            <a:r>
              <a:rPr lang="en-US" sz="1400" dirty="0">
                <a:latin typeface="Times New Roman" panose="02020603050405020304" pitchFamily="18" charset="0"/>
                <a:cs typeface="Times New Roman" panose="02020603050405020304" pitchFamily="18" charset="0"/>
              </a:rPr>
              <a:t>Agri-input dealers can use the information on the usage of resources in the report to plan what to stock depending on the season and the area.</a:t>
            </a:r>
          </a:p>
          <a:p>
            <a:pPr algn="just">
              <a:lnSpc>
                <a:spcPct val="150000"/>
              </a:lnSpc>
            </a:pPr>
            <a:r>
              <a:rPr lang="en-US" sz="1400" dirty="0">
                <a:latin typeface="Times New Roman" panose="02020603050405020304" pitchFamily="18" charset="0"/>
                <a:cs typeface="Times New Roman" panose="02020603050405020304" pitchFamily="18" charset="0"/>
              </a:rPr>
              <a:t>Extension agents and agricultural scientists can use the findings in the report on the relationships between environmental conditions and agricultural yields as a lead for further field experiments.</a:t>
            </a:r>
            <a:endParaRPr lang="en-IN" sz="1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5" name="TextBox 4">
            <a:extLst>
              <a:ext uri="{FF2B5EF4-FFF2-40B4-BE49-F238E27FC236}">
                <a16:creationId xmlns:a16="http://schemas.microsoft.com/office/drawing/2014/main" id="{A0D15043-CB1D-CDF6-6695-D8E2ECDD706C}"/>
              </a:ext>
            </a:extLst>
          </p:cNvPr>
          <p:cNvSpPr txBox="1"/>
          <p:nvPr/>
        </p:nvSpPr>
        <p:spPr>
          <a:xfrm>
            <a:off x="467359" y="1278384"/>
            <a:ext cx="8255726" cy="2723823"/>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US" dirty="0"/>
              <a:t>Python 3 - core language for data loading, cleaning and analysis</a:t>
            </a:r>
          </a:p>
          <a:p>
            <a:pPr marL="285750" indent="-285750">
              <a:buFont typeface="Arial" panose="020B0604020202020204" pitchFamily="34" charset="0"/>
              <a:buChar char="•"/>
            </a:pPr>
            <a:r>
              <a:rPr lang="en-US" dirty="0"/>
              <a:t>Pandas and NumPy - data manipulation, grouping, aggregation and statistics</a:t>
            </a:r>
          </a:p>
          <a:p>
            <a:pPr marL="285750" indent="-285750">
              <a:buFont typeface="Arial" panose="020B0604020202020204" pitchFamily="34" charset="0"/>
              <a:buChar char="•"/>
            </a:pPr>
            <a:r>
              <a:rPr lang="en-US" dirty="0"/>
              <a:t>Matplotlib and Seaborn - univariate, bivariate and multivariate visualizations 	   		(histograms, boxplots, heatmaps, pair plots)</a:t>
            </a:r>
          </a:p>
          <a:p>
            <a:pPr marL="285750" indent="-285750">
              <a:buFont typeface="Arial" panose="020B0604020202020204" pitchFamily="34" charset="0"/>
              <a:buChar char="•"/>
            </a:pPr>
            <a:r>
              <a:rPr lang="en-US" dirty="0"/>
              <a:t>Jupyter Notebook - documented, reproducible end-to-end analysis workflow</a:t>
            </a:r>
          </a:p>
          <a:p>
            <a:pPr marL="285750" indent="-285750">
              <a:buFont typeface="Arial" panose="020B0604020202020204" pitchFamily="34" charset="0"/>
              <a:buChar char="•"/>
            </a:pPr>
            <a:r>
              <a:rPr lang="en-US" dirty="0"/>
              <a:t>Microsoft PowerPoint - project submission and results presentation</a:t>
            </a:r>
          </a:p>
          <a:p>
            <a:endParaRPr lang="en-US"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GB" dirty="0"/>
              <a:t>Data Quality</a:t>
            </a:r>
            <a:endParaRPr lang="en-IN" dirty="0"/>
          </a:p>
        </p:txBody>
      </p:sp>
      <p:sp>
        <p:nvSpPr>
          <p:cNvPr id="2" name="TextBox 1">
            <a:extLst>
              <a:ext uri="{FF2B5EF4-FFF2-40B4-BE49-F238E27FC236}">
                <a16:creationId xmlns:a16="http://schemas.microsoft.com/office/drawing/2014/main" id="{CE393ADF-1EF5-39EC-531F-418A8BEC2E0D}"/>
              </a:ext>
            </a:extLst>
          </p:cNvPr>
          <p:cNvSpPr txBox="1"/>
          <p:nvPr/>
        </p:nvSpPr>
        <p:spPr>
          <a:xfrm>
            <a:off x="801040" y="1909213"/>
            <a:ext cx="5216434" cy="923330"/>
          </a:xfrm>
          <a:prstGeom prst="rect">
            <a:avLst/>
          </a:prstGeom>
          <a:noFill/>
        </p:spPr>
        <p:txBody>
          <a:bodyPr wrap="square" rtlCol="0">
            <a:spAutoFit/>
          </a:bodyPr>
          <a:lstStyle/>
          <a:p>
            <a:r>
              <a:rPr lang="en-US" dirty="0"/>
              <a:t>3 columns had missing values (max 1.2%) and 0 duplicate rows were found across 4,000 records.</a:t>
            </a:r>
            <a:endParaRPr lang="en-IN" dirty="0"/>
          </a:p>
          <a:p>
            <a:endParaRPr lang="en-US" dirty="0"/>
          </a:p>
        </p:txBody>
      </p:sp>
      <p:pic>
        <p:nvPicPr>
          <p:cNvPr id="6" name="Picture 5" descr="01_18.png">
            <a:extLst>
              <a:ext uri="{FF2B5EF4-FFF2-40B4-BE49-F238E27FC236}">
                <a16:creationId xmlns:a16="http://schemas.microsoft.com/office/drawing/2014/main" id="{178A8713-DBA5-D1D3-4C84-1D23EBCE5FBE}"/>
              </a:ext>
            </a:extLst>
          </p:cNvPr>
          <p:cNvPicPr>
            <a:picLocks noChangeAspect="1"/>
          </p:cNvPicPr>
          <p:nvPr/>
        </p:nvPicPr>
        <p:blipFill>
          <a:blip r:embed="rId3"/>
          <a:stretch>
            <a:fillRect/>
          </a:stretch>
        </p:blipFill>
        <p:spPr>
          <a:xfrm>
            <a:off x="320982" y="2859966"/>
            <a:ext cx="5700000" cy="2330067"/>
          </a:xfrm>
          <a:prstGeom prst="rect">
            <a:avLst/>
          </a:prstGeom>
        </p:spPr>
      </p:pic>
      <p:pic>
        <p:nvPicPr>
          <p:cNvPr id="11" name="Picture 10" descr="02_34.png">
            <a:extLst>
              <a:ext uri="{FF2B5EF4-FFF2-40B4-BE49-F238E27FC236}">
                <a16:creationId xmlns:a16="http://schemas.microsoft.com/office/drawing/2014/main" id="{48FBE0C8-6601-E170-49EF-89BC1A5C3DB0}"/>
              </a:ext>
            </a:extLst>
          </p:cNvPr>
          <p:cNvPicPr>
            <a:picLocks noChangeAspect="1"/>
          </p:cNvPicPr>
          <p:nvPr/>
        </p:nvPicPr>
        <p:blipFill>
          <a:blip r:embed="rId4"/>
          <a:stretch>
            <a:fillRect/>
          </a:stretch>
        </p:blipFill>
        <p:spPr>
          <a:xfrm>
            <a:off x="6171018" y="2008333"/>
            <a:ext cx="5700000" cy="403333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20227" y="1166774"/>
            <a:ext cx="4275138" cy="477520"/>
          </a:xfrm>
        </p:spPr>
        <p:txBody>
          <a:bodyPr/>
          <a:lstStyle/>
          <a:p>
            <a:pPr marL="0" indent="0">
              <a:buNone/>
            </a:pPr>
            <a:r>
              <a:rPr lang="en-GB" dirty="0"/>
              <a:t>Distributions</a:t>
            </a:r>
            <a:endParaRPr lang="en-IN" dirty="0"/>
          </a:p>
        </p:txBody>
      </p:sp>
      <p:sp>
        <p:nvSpPr>
          <p:cNvPr id="2" name="Text Placeholder 30">
            <a:extLst>
              <a:ext uri="{FF2B5EF4-FFF2-40B4-BE49-F238E27FC236}">
                <a16:creationId xmlns:a16="http://schemas.microsoft.com/office/drawing/2014/main" id="{7614EB1B-97F8-BE6A-72A2-95610B96A405}"/>
              </a:ext>
            </a:extLst>
          </p:cNvPr>
          <p:cNvSpPr txBox="1">
            <a:spLocks/>
          </p:cNvSpPr>
          <p:nvPr/>
        </p:nvSpPr>
        <p:spPr>
          <a:xfrm>
            <a:off x="320982" y="6120000"/>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Distribution of agricultural yield</a:t>
            </a:r>
            <a:endParaRPr lang="en-GB" sz="2000" dirty="0"/>
          </a:p>
        </p:txBody>
      </p:sp>
      <p:sp>
        <p:nvSpPr>
          <p:cNvPr id="3" name="Text Placeholder 30">
            <a:extLst>
              <a:ext uri="{FF2B5EF4-FFF2-40B4-BE49-F238E27FC236}">
                <a16:creationId xmlns:a16="http://schemas.microsoft.com/office/drawing/2014/main" id="{76B164AD-DE17-1D26-BD0A-AD07B0776B44}"/>
              </a:ext>
            </a:extLst>
          </p:cNvPr>
          <p:cNvSpPr txBox="1">
            <a:spLocks/>
          </p:cNvSpPr>
          <p:nvPr/>
        </p:nvSpPr>
        <p:spPr>
          <a:xfrm>
            <a:off x="6171018" y="6120000"/>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Distribution of profit (INR)</a:t>
            </a:r>
            <a:endParaRPr lang="en-GB" sz="2000" dirty="0"/>
          </a:p>
        </p:txBody>
      </p:sp>
      <p:pic>
        <p:nvPicPr>
          <p:cNvPr id="6" name="Picture 5" descr="07_39.png">
            <a:extLst>
              <a:ext uri="{FF2B5EF4-FFF2-40B4-BE49-F238E27FC236}">
                <a16:creationId xmlns:a16="http://schemas.microsoft.com/office/drawing/2014/main" id="{AE515567-3BD3-1877-8DA9-F09F60C622DB}"/>
              </a:ext>
            </a:extLst>
          </p:cNvPr>
          <p:cNvPicPr>
            <a:picLocks noChangeAspect="1"/>
          </p:cNvPicPr>
          <p:nvPr/>
        </p:nvPicPr>
        <p:blipFill>
          <a:blip r:embed="rId3"/>
          <a:stretch>
            <a:fillRect/>
          </a:stretch>
        </p:blipFill>
        <p:spPr>
          <a:xfrm>
            <a:off x="320982" y="2265561"/>
            <a:ext cx="5700000" cy="3518877"/>
          </a:xfrm>
          <a:prstGeom prst="rect">
            <a:avLst/>
          </a:prstGeom>
        </p:spPr>
      </p:pic>
      <p:pic>
        <p:nvPicPr>
          <p:cNvPr id="9" name="Picture 8" descr="08_40.png">
            <a:extLst>
              <a:ext uri="{FF2B5EF4-FFF2-40B4-BE49-F238E27FC236}">
                <a16:creationId xmlns:a16="http://schemas.microsoft.com/office/drawing/2014/main" id="{18931CDD-9969-78A4-0F96-C0F07AF39F17}"/>
              </a:ext>
            </a:extLst>
          </p:cNvPr>
          <p:cNvPicPr>
            <a:picLocks noChangeAspect="1"/>
          </p:cNvPicPr>
          <p:nvPr/>
        </p:nvPicPr>
        <p:blipFill>
          <a:blip r:embed="rId4"/>
          <a:stretch>
            <a:fillRect/>
          </a:stretch>
        </p:blipFill>
        <p:spPr>
          <a:xfrm>
            <a:off x="6171018" y="2265561"/>
            <a:ext cx="5700000" cy="3518877"/>
          </a:xfrm>
          <a:prstGeom prst="rect">
            <a:avLst/>
          </a:prstGeom>
        </p:spPr>
      </p:pic>
      <p:sp>
        <p:nvSpPr>
          <p:cNvPr id="11" name="Text Placeholder 1">
            <a:extLst>
              <a:ext uri="{FF2B5EF4-FFF2-40B4-BE49-F238E27FC236}">
                <a16:creationId xmlns:a16="http://schemas.microsoft.com/office/drawing/2014/main" id="{9860E550-8CAD-F205-06A0-07BC6BA13DCF}"/>
              </a:ext>
            </a:extLst>
          </p:cNvPr>
          <p:cNvSpPr txBox="1">
            <a:spLocks/>
          </p:cNvSpPr>
          <p:nvPr/>
        </p:nvSpPr>
        <p:spPr>
          <a:xfrm>
            <a:off x="820227" y="1631710"/>
            <a:ext cx="4275138" cy="477520"/>
          </a:xfrm>
          <a:prstGeom prst="rect">
            <a:avLst/>
          </a:prstGeom>
        </p:spPr>
        <p:txBody>
          <a:bodyPr vert="horz" wrap="square"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panose="05000000000000000000" pitchFamily="2" charset="2"/>
              <a:buNone/>
            </a:pPr>
            <a:r>
              <a:rPr lang="en-US" sz="1400" dirty="0"/>
              <a:t>Yield and Profit are both right-skewed; nearly half of all farm records (49.15%) show a loss.</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xEl>
                                              <p:pRg st="0" end="0"/>
                                            </p:txEl>
                                          </p:spTgt>
                                        </p:tgtEl>
                                        <p:attrNameLst>
                                          <p:attrName>style.visibility</p:attrName>
                                        </p:attrNameLst>
                                      </p:cBhvr>
                                      <p:to>
                                        <p:strVal val="visible"/>
                                      </p:to>
                                    </p:set>
                                    <p:animEffect transition="in" filter="fade">
                                      <p:cBhvr>
                                        <p:cTn id="49" dur="1000"/>
                                        <p:tgtEl>
                                          <p:spTgt spid="11">
                                            <p:txEl>
                                              <p:pRg st="0" end="0"/>
                                            </p:txEl>
                                          </p:spTgt>
                                        </p:tgtEl>
                                      </p:cBhvr>
                                    </p:animEffect>
                                    <p:anim calcmode="lin" valueType="num">
                                      <p:cBhvr>
                                        <p:cTn id="50"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2" grpId="0"/>
      <p:bldP spid="3" grpId="0"/>
      <p:bldP spid="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GB" dirty="0"/>
              <a:t>Seasonal</a:t>
            </a:r>
            <a:endParaRPr lang="en-IN" dirty="0"/>
          </a:p>
        </p:txBody>
      </p:sp>
      <p:sp>
        <p:nvSpPr>
          <p:cNvPr id="2" name="Text Placeholder 1">
            <a:extLst>
              <a:ext uri="{FF2B5EF4-FFF2-40B4-BE49-F238E27FC236}">
                <a16:creationId xmlns:a16="http://schemas.microsoft.com/office/drawing/2014/main" id="{EEAEC2D4-AC70-7933-F58E-11209939C8AB}"/>
              </a:ext>
            </a:extLst>
          </p:cNvPr>
          <p:cNvSpPr txBox="1">
            <a:spLocks/>
          </p:cNvSpPr>
          <p:nvPr/>
        </p:nvSpPr>
        <p:spPr>
          <a:xfrm>
            <a:off x="807164" y="1776474"/>
            <a:ext cx="4275138" cy="477520"/>
          </a:xfrm>
          <a:prstGeom prst="rect">
            <a:avLst/>
          </a:prstGeom>
        </p:spPr>
        <p:txBody>
          <a:bodyPr vert="horz" wrap="square"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panose="05000000000000000000" pitchFamily="2" charset="2"/>
              <a:buNone/>
            </a:pPr>
            <a:r>
              <a:rPr lang="en-US" sz="1400"/>
              <a:t>Kharif leads on both yield and profit; Zaid is the only season with a negative average profit.</a:t>
            </a:r>
            <a:endParaRPr lang="en-IN" dirty="0"/>
          </a:p>
        </p:txBody>
      </p:sp>
      <p:sp>
        <p:nvSpPr>
          <p:cNvPr id="3" name="Text Placeholder 30">
            <a:extLst>
              <a:ext uri="{FF2B5EF4-FFF2-40B4-BE49-F238E27FC236}">
                <a16:creationId xmlns:a16="http://schemas.microsoft.com/office/drawing/2014/main" id="{56265D5B-BDCD-63BA-254C-02FCA89BB2F2}"/>
              </a:ext>
            </a:extLst>
          </p:cNvPr>
          <p:cNvSpPr txBox="1">
            <a:spLocks/>
          </p:cNvSpPr>
          <p:nvPr/>
        </p:nvSpPr>
        <p:spPr>
          <a:xfrm>
            <a:off x="320982" y="6120000"/>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Yield distribution across seasons</a:t>
            </a:r>
            <a:endParaRPr lang="en-GB" sz="2000" dirty="0"/>
          </a:p>
        </p:txBody>
      </p:sp>
      <p:sp>
        <p:nvSpPr>
          <p:cNvPr id="6" name="Text Placeholder 30">
            <a:extLst>
              <a:ext uri="{FF2B5EF4-FFF2-40B4-BE49-F238E27FC236}">
                <a16:creationId xmlns:a16="http://schemas.microsoft.com/office/drawing/2014/main" id="{4C171D9A-9E21-170C-6E98-7EB4888D3770}"/>
              </a:ext>
            </a:extLst>
          </p:cNvPr>
          <p:cNvSpPr txBox="1">
            <a:spLocks/>
          </p:cNvSpPr>
          <p:nvPr/>
        </p:nvSpPr>
        <p:spPr>
          <a:xfrm>
            <a:off x="6171018" y="6120000"/>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Profit distribution across seasons</a:t>
            </a:r>
            <a:endParaRPr lang="en-GB" sz="2000" dirty="0"/>
          </a:p>
        </p:txBody>
      </p:sp>
      <p:pic>
        <p:nvPicPr>
          <p:cNvPr id="11" name="Picture 10" descr="10_48.png">
            <a:extLst>
              <a:ext uri="{FF2B5EF4-FFF2-40B4-BE49-F238E27FC236}">
                <a16:creationId xmlns:a16="http://schemas.microsoft.com/office/drawing/2014/main" id="{051EC58D-4A12-4FAC-FD75-7329E693081E}"/>
              </a:ext>
            </a:extLst>
          </p:cNvPr>
          <p:cNvPicPr>
            <a:picLocks noChangeAspect="1"/>
          </p:cNvPicPr>
          <p:nvPr/>
        </p:nvPicPr>
        <p:blipFill>
          <a:blip r:embed="rId3"/>
          <a:stretch>
            <a:fillRect/>
          </a:stretch>
        </p:blipFill>
        <p:spPr>
          <a:xfrm>
            <a:off x="320982" y="2549203"/>
            <a:ext cx="5700000" cy="3518877"/>
          </a:xfrm>
          <a:prstGeom prst="rect">
            <a:avLst/>
          </a:prstGeom>
        </p:spPr>
      </p:pic>
      <p:pic>
        <p:nvPicPr>
          <p:cNvPr id="12" name="Picture 11" descr="11_49.png">
            <a:extLst>
              <a:ext uri="{FF2B5EF4-FFF2-40B4-BE49-F238E27FC236}">
                <a16:creationId xmlns:a16="http://schemas.microsoft.com/office/drawing/2014/main" id="{73D2BAAE-3526-71DB-4759-C1AAA9301953}"/>
              </a:ext>
            </a:extLst>
          </p:cNvPr>
          <p:cNvPicPr>
            <a:picLocks noChangeAspect="1"/>
          </p:cNvPicPr>
          <p:nvPr/>
        </p:nvPicPr>
        <p:blipFill>
          <a:blip r:embed="rId4"/>
          <a:stretch>
            <a:fillRect/>
          </a:stretch>
        </p:blipFill>
        <p:spPr>
          <a:xfrm>
            <a:off x="6171018" y="2601123"/>
            <a:ext cx="5700000" cy="351887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animEffect transition="in" filter="fade">
                                      <p:cBhvr>
                                        <p:cTn id="35" dur="1000"/>
                                        <p:tgtEl>
                                          <p:spTgt spid="2">
                                            <p:txEl>
                                              <p:pRg st="0" end="0"/>
                                            </p:txEl>
                                          </p:spTgt>
                                        </p:tgtEl>
                                      </p:cBhvr>
                                    </p:animEffect>
                                    <p:anim calcmode="lin" valueType="num">
                                      <p:cBhvr>
                                        <p:cTn id="36"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nodePh="1">
                                  <p:stCondLst>
                                    <p:cond delay="0"/>
                                  </p:stCondLst>
                                  <p:endCondLst>
                                    <p:cond evt="begin" delay="0">
                                      <p:tn val="47"/>
                                    </p:cond>
                                  </p:end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2" grpId="0" build="p"/>
      <p:bldP spid="3"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GB" dirty="0"/>
              <a:t>Crop and Correlation</a:t>
            </a:r>
            <a:endParaRPr lang="en-IN" dirty="0"/>
          </a:p>
        </p:txBody>
      </p:sp>
      <p:sp>
        <p:nvSpPr>
          <p:cNvPr id="2" name="Text Placeholder 30">
            <a:extLst>
              <a:ext uri="{FF2B5EF4-FFF2-40B4-BE49-F238E27FC236}">
                <a16:creationId xmlns:a16="http://schemas.microsoft.com/office/drawing/2014/main" id="{9EB51B74-1299-38B6-5D50-CA67D08B1282}"/>
              </a:ext>
            </a:extLst>
          </p:cNvPr>
          <p:cNvSpPr txBox="1">
            <a:spLocks/>
          </p:cNvSpPr>
          <p:nvPr/>
        </p:nvSpPr>
        <p:spPr>
          <a:xfrm>
            <a:off x="317474" y="5911449"/>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dirty="0"/>
              <a:t>Yield by crop and season</a:t>
            </a:r>
            <a:endParaRPr lang="en-GB" sz="2000" dirty="0"/>
          </a:p>
        </p:txBody>
      </p:sp>
      <p:sp>
        <p:nvSpPr>
          <p:cNvPr id="3" name="Text Placeholder 30">
            <a:extLst>
              <a:ext uri="{FF2B5EF4-FFF2-40B4-BE49-F238E27FC236}">
                <a16:creationId xmlns:a16="http://schemas.microsoft.com/office/drawing/2014/main" id="{7DE164E2-2B08-447E-0FA5-04FDACF5F9C5}"/>
              </a:ext>
            </a:extLst>
          </p:cNvPr>
          <p:cNvSpPr txBox="1">
            <a:spLocks/>
          </p:cNvSpPr>
          <p:nvPr/>
        </p:nvSpPr>
        <p:spPr>
          <a:xfrm>
            <a:off x="6171018" y="6061449"/>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Correlation matrix of numerical variables</a:t>
            </a:r>
            <a:endParaRPr lang="en-GB" sz="2000" dirty="0"/>
          </a:p>
        </p:txBody>
      </p:sp>
      <p:pic>
        <p:nvPicPr>
          <p:cNvPr id="6" name="Picture 5" descr="17_55.png">
            <a:extLst>
              <a:ext uri="{FF2B5EF4-FFF2-40B4-BE49-F238E27FC236}">
                <a16:creationId xmlns:a16="http://schemas.microsoft.com/office/drawing/2014/main" id="{D24F7B4D-F4A9-9345-F8D7-5BEF93CD115E}"/>
              </a:ext>
            </a:extLst>
          </p:cNvPr>
          <p:cNvPicPr>
            <a:picLocks noChangeAspect="1"/>
          </p:cNvPicPr>
          <p:nvPr/>
        </p:nvPicPr>
        <p:blipFill>
          <a:blip r:embed="rId3"/>
          <a:stretch>
            <a:fillRect/>
          </a:stretch>
        </p:blipFill>
        <p:spPr>
          <a:xfrm>
            <a:off x="396000" y="2518346"/>
            <a:ext cx="5700000" cy="3360867"/>
          </a:xfrm>
          <a:prstGeom prst="rect">
            <a:avLst/>
          </a:prstGeom>
        </p:spPr>
      </p:pic>
      <p:sp>
        <p:nvSpPr>
          <p:cNvPr id="11" name="TextBox 10">
            <a:extLst>
              <a:ext uri="{FF2B5EF4-FFF2-40B4-BE49-F238E27FC236}">
                <a16:creationId xmlns:a16="http://schemas.microsoft.com/office/drawing/2014/main" id="{9BBF5160-D888-FD21-D99D-93E4D40BFFED}"/>
              </a:ext>
            </a:extLst>
          </p:cNvPr>
          <p:cNvSpPr txBox="1"/>
          <p:nvPr/>
        </p:nvSpPr>
        <p:spPr>
          <a:xfrm>
            <a:off x="807164" y="1852268"/>
            <a:ext cx="4423954" cy="1015663"/>
          </a:xfrm>
          <a:prstGeom prst="rect">
            <a:avLst/>
          </a:prstGeom>
          <a:noFill/>
        </p:spPr>
        <p:txBody>
          <a:bodyPr wrap="square" rtlCol="0">
            <a:spAutoFit/>
          </a:bodyPr>
          <a:lstStyle/>
          <a:p>
            <a:r>
              <a:rPr lang="en-US" sz="1400" dirty="0"/>
              <a:t>Sugarcane's yield dwarfs all other crops in every season; Water Efficiency correlates most strongly with Yield (r=0.92).</a:t>
            </a:r>
            <a:endParaRPr lang="en-IN" sz="1400" dirty="0"/>
          </a:p>
          <a:p>
            <a:endParaRPr lang="en-US" dirty="0"/>
          </a:p>
        </p:txBody>
      </p:sp>
      <p:pic>
        <p:nvPicPr>
          <p:cNvPr id="13" name="Picture 12">
            <a:extLst>
              <a:ext uri="{FF2B5EF4-FFF2-40B4-BE49-F238E27FC236}">
                <a16:creationId xmlns:a16="http://schemas.microsoft.com/office/drawing/2014/main" id="{90081E4C-676E-54BC-F24A-D5B2F3470F5E}"/>
              </a:ext>
            </a:extLst>
          </p:cNvPr>
          <p:cNvPicPr>
            <a:picLocks noChangeAspect="1"/>
          </p:cNvPicPr>
          <p:nvPr/>
        </p:nvPicPr>
        <p:blipFill>
          <a:blip r:embed="rId4"/>
          <a:stretch>
            <a:fillRect/>
          </a:stretch>
        </p:blipFill>
        <p:spPr>
          <a:xfrm>
            <a:off x="6110871" y="2377440"/>
            <a:ext cx="5820293" cy="409448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GB" dirty="0"/>
              <a:t>Regional</a:t>
            </a:r>
            <a:endParaRPr lang="en-IN" dirty="0"/>
          </a:p>
        </p:txBody>
      </p:sp>
      <p:sp>
        <p:nvSpPr>
          <p:cNvPr id="2" name="Text Placeholder 30">
            <a:extLst>
              <a:ext uri="{FF2B5EF4-FFF2-40B4-BE49-F238E27FC236}">
                <a16:creationId xmlns:a16="http://schemas.microsoft.com/office/drawing/2014/main" id="{36F6CF56-3579-39E8-CCFE-A1477954D119}"/>
              </a:ext>
            </a:extLst>
          </p:cNvPr>
          <p:cNvSpPr txBox="1">
            <a:spLocks/>
          </p:cNvSpPr>
          <p:nvPr/>
        </p:nvSpPr>
        <p:spPr>
          <a:xfrm>
            <a:off x="199062" y="6187411"/>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Average profit by state</a:t>
            </a:r>
            <a:endParaRPr lang="en-GB" sz="2000" dirty="0"/>
          </a:p>
        </p:txBody>
      </p:sp>
      <p:sp>
        <p:nvSpPr>
          <p:cNvPr id="3" name="Text Placeholder 30">
            <a:extLst>
              <a:ext uri="{FF2B5EF4-FFF2-40B4-BE49-F238E27FC236}">
                <a16:creationId xmlns:a16="http://schemas.microsoft.com/office/drawing/2014/main" id="{FBBE96F9-BFEE-99CF-AAF1-C7AFBA513A68}"/>
              </a:ext>
            </a:extLst>
          </p:cNvPr>
          <p:cNvSpPr txBox="1">
            <a:spLocks/>
          </p:cNvSpPr>
          <p:nvPr/>
        </p:nvSpPr>
        <p:spPr>
          <a:xfrm>
            <a:off x="6049098" y="6187411"/>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Average yield by irrigation method</a:t>
            </a:r>
            <a:endParaRPr lang="en-GB" sz="2000" dirty="0"/>
          </a:p>
        </p:txBody>
      </p:sp>
      <p:pic>
        <p:nvPicPr>
          <p:cNvPr id="6" name="Picture 5" descr="24_68.png">
            <a:extLst>
              <a:ext uri="{FF2B5EF4-FFF2-40B4-BE49-F238E27FC236}">
                <a16:creationId xmlns:a16="http://schemas.microsoft.com/office/drawing/2014/main" id="{BAB0CD8B-8D35-C1F0-9A71-AA0665E3778F}"/>
              </a:ext>
            </a:extLst>
          </p:cNvPr>
          <p:cNvPicPr>
            <a:picLocks noChangeAspect="1"/>
          </p:cNvPicPr>
          <p:nvPr/>
        </p:nvPicPr>
        <p:blipFill>
          <a:blip r:embed="rId3"/>
          <a:stretch>
            <a:fillRect/>
          </a:stretch>
        </p:blipFill>
        <p:spPr>
          <a:xfrm>
            <a:off x="349098" y="2351184"/>
            <a:ext cx="5700000" cy="3658678"/>
          </a:xfrm>
          <a:prstGeom prst="rect">
            <a:avLst/>
          </a:prstGeom>
        </p:spPr>
      </p:pic>
      <p:sp>
        <p:nvSpPr>
          <p:cNvPr id="11" name="Text Placeholder 1">
            <a:extLst>
              <a:ext uri="{FF2B5EF4-FFF2-40B4-BE49-F238E27FC236}">
                <a16:creationId xmlns:a16="http://schemas.microsoft.com/office/drawing/2014/main" id="{D375F345-006C-F396-38B3-9D7A25DF5BEC}"/>
              </a:ext>
            </a:extLst>
          </p:cNvPr>
          <p:cNvSpPr txBox="1">
            <a:spLocks/>
          </p:cNvSpPr>
          <p:nvPr/>
        </p:nvSpPr>
        <p:spPr>
          <a:xfrm>
            <a:off x="807163" y="1873664"/>
            <a:ext cx="5846185" cy="509756"/>
          </a:xfrm>
          <a:prstGeom prst="rect">
            <a:avLst/>
          </a:prstGeom>
        </p:spPr>
        <p:txBody>
          <a:bodyPr vert="horz" wrap="square" lIns="91440" tIns="45720" rIns="91440" bIns="45720" rtlCol="0">
            <a:normAutofit fontScale="925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dirty="0"/>
              <a:t>Punjab &amp; Maharashtra lead on profit; Drip irrigation gives the highest yield; Rainfed is the most water-efficient because it uses the least water.</a:t>
            </a:r>
            <a:endParaRPr lang="en-IN" dirty="0"/>
          </a:p>
        </p:txBody>
      </p:sp>
      <p:pic>
        <p:nvPicPr>
          <p:cNvPr id="13" name="Picture 12">
            <a:extLst>
              <a:ext uri="{FF2B5EF4-FFF2-40B4-BE49-F238E27FC236}">
                <a16:creationId xmlns:a16="http://schemas.microsoft.com/office/drawing/2014/main" id="{0D3054E7-7D92-2FF1-C950-09628CD6596F}"/>
              </a:ext>
            </a:extLst>
          </p:cNvPr>
          <p:cNvPicPr>
            <a:picLocks noChangeAspect="1"/>
          </p:cNvPicPr>
          <p:nvPr/>
        </p:nvPicPr>
        <p:blipFill>
          <a:blip r:embed="rId4"/>
          <a:stretch>
            <a:fillRect/>
          </a:stretch>
        </p:blipFill>
        <p:spPr>
          <a:xfrm>
            <a:off x="6142904" y="2441381"/>
            <a:ext cx="4982296" cy="356848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xEl>
                                              <p:pRg st="0" end="0"/>
                                            </p:txEl>
                                          </p:spTgt>
                                        </p:tgtEl>
                                        <p:attrNameLst>
                                          <p:attrName>style.visibility</p:attrName>
                                        </p:attrNameLst>
                                      </p:cBhvr>
                                      <p:to>
                                        <p:strVal val="visible"/>
                                      </p:to>
                                    </p:set>
                                    <p:animEffect transition="in" filter="fade">
                                      <p:cBhvr>
                                        <p:cTn id="49" dur="1000"/>
                                        <p:tgtEl>
                                          <p:spTgt spid="11">
                                            <p:txEl>
                                              <p:pRg st="0" end="0"/>
                                            </p:txEl>
                                          </p:spTgt>
                                        </p:tgtEl>
                                      </p:cBhvr>
                                    </p:animEffect>
                                    <p:anim calcmode="lin" valueType="num">
                                      <p:cBhvr>
                                        <p:cTn id="50"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2" grpId="0"/>
      <p:bldP spid="3" grpId="0"/>
      <p:bldP spid="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753D1653-ECE2-3C32-A7DA-E4C4E98F1B6F}"/>
              </a:ext>
            </a:extLst>
          </p:cNvPr>
          <p:cNvSpPr txBox="1"/>
          <p:nvPr/>
        </p:nvSpPr>
        <p:spPr>
          <a:xfrm>
            <a:off x="675957" y="1400000"/>
            <a:ext cx="10500000" cy="2862322"/>
          </a:xfrm>
          <a:prstGeom prst="rect">
            <a:avLst/>
          </a:prstGeom>
          <a:noFill/>
        </p:spPr>
        <p:txBody>
          <a:bodyPr wrap="square">
            <a:spAutoFit/>
          </a:bodyPr>
          <a:lstStyle/>
          <a:p>
            <a:r>
              <a:rPr sz="1800" dirty="0"/>
              <a:t>•  Extend the dataset to a multi-year panel to test whether the Kharif &gt; Rabi &gt; Zaid ranking holds across years, not just within one season snapshot.</a:t>
            </a:r>
          </a:p>
          <a:p>
            <a:r>
              <a:rPr sz="1800" dirty="0"/>
              <a:t>•  Bring in market-price time series (instead of a single price per record) to separate price-driven profit swings from yield-driven ones.</a:t>
            </a:r>
          </a:p>
          <a:p>
            <a:r>
              <a:rPr sz="1800" dirty="0"/>
              <a:t>•  Investigate the Zaid-season loss in more depth with targeted field data </a:t>
            </a:r>
            <a:r>
              <a:rPr lang="en-US" sz="1800" dirty="0"/>
              <a:t>-</a:t>
            </a:r>
            <a:r>
              <a:rPr sz="1800" dirty="0"/>
              <a:t> soil moisture retention, heat-tolerant crop trials, and drip-irrigation pilot comparisons.</a:t>
            </a:r>
          </a:p>
          <a:p>
            <a:r>
              <a:rPr sz="1800" dirty="0"/>
              <a:t>•  Apply statistical </a:t>
            </a:r>
            <a:r>
              <a:rPr lang="en-US" sz="1800" dirty="0"/>
              <a:t>and e</a:t>
            </a:r>
            <a:r>
              <a:rPr lang="en-US" dirty="0"/>
              <a:t>xtend the significance testing (Kruskal-Wallis done here) to a model that controls for crop, irrigation and state together</a:t>
            </a:r>
            <a:endParaRPr sz="1800" dirty="0"/>
          </a:p>
          <a:p>
            <a:r>
              <a:rPr sz="1800" dirty="0"/>
              <a:t>•  Build this into an interactive dashboard so agricultural cooperatives can filter by state, crop and season for their own decision-making.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409303" y="1275371"/>
            <a:ext cx="6165668" cy="1633292"/>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GB" sz="2000" dirty="0"/>
              <a:t>https://github.com/Om777-Stack/Seasonal-Agriculture-Performance-Analysis.git</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3AA7843-42C7-5A4E-15FF-540BBCBEA12E}"/>
              </a:ext>
            </a:extLst>
          </p:cNvPr>
          <p:cNvPicPr>
            <a:picLocks noChangeAspect="1"/>
          </p:cNvPicPr>
          <p:nvPr/>
        </p:nvPicPr>
        <p:blipFill>
          <a:blip r:embed="rId3"/>
          <a:stretch>
            <a:fillRect/>
          </a:stretch>
        </p:blipFill>
        <p:spPr>
          <a:xfrm>
            <a:off x="730444" y="1405053"/>
            <a:ext cx="8056505" cy="508235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26501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1325</TotalTime>
  <Words>912</Words>
  <Application>Microsoft Office PowerPoint</Application>
  <PresentationFormat>Widescreen</PresentationFormat>
  <Paragraphs>55</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Om Bagal</cp:lastModifiedBy>
  <cp:revision>102</cp:revision>
  <dcterms:created xsi:type="dcterms:W3CDTF">2021-07-11T13:13:15Z</dcterms:created>
  <dcterms:modified xsi:type="dcterms:W3CDTF">2026-09-20T00:51:00Z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